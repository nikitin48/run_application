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51"/>
  </p:normalViewPr>
  <p:slideViewPr>
    <p:cSldViewPr snapToGrid="0" snapToObjects="1">
      <p:cViewPr varScale="1">
        <p:scale>
          <a:sx n="91" d="100"/>
          <a:sy n="91" d="100"/>
        </p:scale>
        <p:origin x="192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C68E6"/>
                </a:solidFill>
                <a:latin typeface="Calibri"/>
              </a:defRPr>
            </a:pPr>
            <a:r>
              <a:t>ЛИПЕЦКИЙ ГОСУДАРСТВЕННЫЙ ТЕХНИЧЕСКИЙ УНИВЕРСИТЕТ</a:t>
            </a:r>
          </a:p>
          <a:p>
            <a:pPr>
              <a:spcBef>
                <a:spcPts val="200"/>
              </a:spcBef>
              <a:defRPr sz="1200">
                <a:solidFill>
                  <a:srgbClr val="5F6A7A"/>
                </a:solidFill>
                <a:latin typeface="Calibri"/>
              </a:defRPr>
            </a:pPr>
            <a:r>
              <a:t>Институт компьютерных наук  •  Кафедра автоматизированных систем управления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F6A7A"/>
                </a:solidFill>
                <a:latin typeface="Calibri"/>
              </a:defRPr>
            </a:pPr>
            <a:r>
              <a:rPr dirty="0"/>
              <a:t>ОТЧЁТ </a:t>
            </a:r>
            <a:r>
              <a:rPr dirty="0" err="1"/>
              <a:t>О</a:t>
            </a:r>
            <a:r>
              <a:rPr dirty="0"/>
              <a:t> ПРОЕКТНО-ТЕХНОЛОГИЧЕСКОЙ ПРАКТИКЕ</a:t>
            </a:r>
          </a:p>
          <a:p>
            <a:pPr>
              <a:defRPr sz="2800" b="1">
                <a:solidFill>
                  <a:srgbClr val="202633"/>
                </a:solidFill>
                <a:latin typeface="Calibri"/>
              </a:defRPr>
            </a:pP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кроссплатформенного</a:t>
            </a:r>
            <a:r>
              <a:rPr dirty="0"/>
              <a:t> </a:t>
            </a:r>
            <a:r>
              <a:rPr dirty="0" err="1"/>
              <a:t>мобильного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стимулирования</a:t>
            </a:r>
            <a:r>
              <a:rPr dirty="0"/>
              <a:t> </a:t>
            </a:r>
            <a:r>
              <a:rPr dirty="0" err="1"/>
              <a:t>занятий</a:t>
            </a:r>
            <a:r>
              <a:rPr dirty="0"/>
              <a:t> </a:t>
            </a:r>
            <a:r>
              <a:rPr dirty="0" err="1"/>
              <a:t>лёгкой</a:t>
            </a:r>
            <a:r>
              <a:rPr dirty="0"/>
              <a:t> </a:t>
            </a:r>
            <a:r>
              <a:rPr dirty="0" err="1"/>
              <a:t>атлетикой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применением</a:t>
            </a:r>
            <a:r>
              <a:rPr dirty="0"/>
              <a:t> </a:t>
            </a:r>
            <a:r>
              <a:rPr dirty="0" err="1"/>
              <a:t>геймификации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188720" y="3291840"/>
            <a:ext cx="3657600" cy="36576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3C68E6"/>
                </a:solidFill>
                <a:latin typeface="Calibri"/>
              </a:rPr>
              <a:t>Студент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:  </a:t>
            </a:r>
            <a:r>
              <a:rPr sz="1700" dirty="0">
                <a:solidFill>
                  <a:srgbClr val="5F6A7A"/>
                </a:solidFill>
                <a:latin typeface="Calibri"/>
              </a:rPr>
              <a:t>Никитин Матвей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Сергеевич</a:t>
            </a:r>
            <a:r>
              <a:rPr sz="1700" dirty="0">
                <a:solidFill>
                  <a:srgbClr val="5F6A7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группа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ПИ-22-1</a:t>
            </a:r>
          </a:p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3C68E6"/>
                </a:solidFill>
                <a:latin typeface="Calibri"/>
              </a:rPr>
              <a:t>Направление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:  </a:t>
            </a:r>
            <a:r>
              <a:rPr sz="1700" dirty="0">
                <a:solidFill>
                  <a:srgbClr val="5F6A7A"/>
                </a:solidFill>
                <a:latin typeface="Calibri"/>
              </a:rPr>
              <a:t>09.03.04 «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Программная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инженерия</a:t>
            </a:r>
            <a:r>
              <a:rPr sz="1700" dirty="0">
                <a:solidFill>
                  <a:srgbClr val="5F6A7A"/>
                </a:solidFill>
                <a:latin typeface="Calibri"/>
              </a:rPr>
              <a:t>»</a:t>
            </a:r>
          </a:p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3C68E6"/>
                </a:solidFill>
                <a:latin typeface="Calibri"/>
              </a:rPr>
              <a:t>Руководитель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C68E6"/>
                </a:solidFill>
                <a:latin typeface="Calibri"/>
              </a:rPr>
              <a:t>от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C68E6"/>
                </a:solidFill>
                <a:latin typeface="Calibri"/>
              </a:rPr>
              <a:t>кафедры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: 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Болдырихин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О.В.,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старший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преподаватель</a:t>
            </a:r>
            <a:endParaRPr sz="1700" dirty="0">
              <a:solidFill>
                <a:srgbClr val="5F6A7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3C68E6"/>
                </a:solidFill>
                <a:latin typeface="Calibri"/>
              </a:rPr>
              <a:t>Руководитель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C68E6"/>
                </a:solidFill>
                <a:latin typeface="Calibri"/>
              </a:rPr>
              <a:t>от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C68E6"/>
                </a:solidFill>
                <a:latin typeface="Calibri"/>
              </a:rPr>
              <a:t>предприятия</a:t>
            </a:r>
            <a:r>
              <a:rPr sz="1700" b="1" dirty="0">
                <a:solidFill>
                  <a:srgbClr val="3C68E6"/>
                </a:solidFill>
                <a:latin typeface="Calibri"/>
              </a:rPr>
              <a:t>: 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Овчинников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В.В.,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генеральный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директор</a:t>
            </a:r>
            <a:r>
              <a:rPr sz="1700" dirty="0">
                <a:solidFill>
                  <a:srgbClr val="5F6A7A"/>
                </a:solidFill>
                <a:latin typeface="Calibri"/>
              </a:rPr>
              <a:t> ООО «</a:t>
            </a:r>
            <a:r>
              <a:rPr sz="1700" dirty="0" err="1">
                <a:solidFill>
                  <a:srgbClr val="5F6A7A"/>
                </a:solidFill>
                <a:latin typeface="Calibri"/>
              </a:rPr>
              <a:t>Фьюжнсофт</a:t>
            </a:r>
            <a:r>
              <a:rPr sz="1700" dirty="0">
                <a:solidFill>
                  <a:srgbClr val="5F6A7A"/>
                </a:solidFill>
                <a:latin typeface="Calibri"/>
              </a:rPr>
              <a:t>»</a:t>
            </a:r>
          </a:p>
          <a:p>
            <a:pPr>
              <a:spcAft>
                <a:spcPts val="800"/>
              </a:spcAft>
            </a:pPr>
            <a:r>
              <a:rPr sz="1700" dirty="0" err="1">
                <a:solidFill>
                  <a:srgbClr val="5F6A7A"/>
                </a:solidFill>
                <a:latin typeface="Calibri"/>
              </a:rPr>
              <a:t>Липецк</a:t>
            </a:r>
            <a:r>
              <a:rPr sz="1700" dirty="0">
                <a:solidFill>
                  <a:srgbClr val="5F6A7A"/>
                </a:solidFill>
                <a:latin typeface="Calibr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Введение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7830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145846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48AA"/>
                </a:solidFill>
                <a:latin typeface="Calibri"/>
              </a:defRPr>
            </a:pPr>
            <a:r>
              <a:rPr dirty="0" err="1"/>
              <a:t>Актуальность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87223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Существующие</a:t>
            </a:r>
            <a:r>
              <a:rPr dirty="0"/>
              <a:t> </a:t>
            </a:r>
            <a:r>
              <a:rPr dirty="0" err="1"/>
              <a:t>трекеры</a:t>
            </a:r>
            <a:r>
              <a:rPr dirty="0"/>
              <a:t> </a:t>
            </a:r>
            <a:r>
              <a:rPr dirty="0" err="1"/>
              <a:t>пробежек</a:t>
            </a:r>
            <a:r>
              <a:rPr dirty="0"/>
              <a:t> </a:t>
            </a:r>
            <a:r>
              <a:rPr dirty="0" err="1"/>
              <a:t>ограничиваются</a:t>
            </a:r>
            <a:r>
              <a:rPr dirty="0"/>
              <a:t> </a:t>
            </a:r>
            <a:r>
              <a:rPr dirty="0" err="1"/>
              <a:t>фиксацией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статистики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снижению</a:t>
            </a:r>
            <a:r>
              <a:rPr dirty="0"/>
              <a:t> </a:t>
            </a:r>
            <a:r>
              <a:rPr dirty="0" err="1"/>
              <a:t>мотивации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долгосрочном</a:t>
            </a:r>
            <a:r>
              <a:rPr dirty="0"/>
              <a:t> </a:t>
            </a:r>
            <a:r>
              <a:rPr dirty="0" err="1"/>
              <a:t>использовании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Объединение</a:t>
            </a:r>
            <a:r>
              <a:rPr dirty="0"/>
              <a:t> GPS-</a:t>
            </a:r>
            <a:r>
              <a:rPr dirty="0" err="1"/>
              <a:t>трекинга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геопространственной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механикой</a:t>
            </a:r>
            <a:r>
              <a:rPr dirty="0"/>
              <a:t> (</a:t>
            </a:r>
            <a:r>
              <a:rPr dirty="0" err="1"/>
              <a:t>захват</a:t>
            </a:r>
            <a:r>
              <a:rPr dirty="0"/>
              <a:t> </a:t>
            </a:r>
            <a:r>
              <a:rPr dirty="0" err="1"/>
              <a:t>территорий</a:t>
            </a:r>
            <a:r>
              <a:rPr dirty="0"/>
              <a:t>)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сформировать</a:t>
            </a:r>
            <a:r>
              <a:rPr dirty="0"/>
              <a:t> </a:t>
            </a:r>
            <a:r>
              <a:rPr dirty="0" err="1"/>
              <a:t>устойчивую</a:t>
            </a:r>
            <a:r>
              <a:rPr dirty="0"/>
              <a:t> </a:t>
            </a:r>
            <a:r>
              <a:rPr dirty="0" err="1"/>
              <a:t>вовлечённость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0881360" cy="274320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Цели и задачи практики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Изучение</a:t>
            </a:r>
            <a:r>
              <a:rPr dirty="0"/>
              <a:t> </a:t>
            </a:r>
            <a:r>
              <a:rPr dirty="0" err="1"/>
              <a:t>средств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: Flutter, </a:t>
            </a:r>
            <a:r>
              <a:rPr dirty="0" err="1"/>
              <a:t>FastAPI</a:t>
            </a:r>
            <a:r>
              <a:rPr dirty="0"/>
              <a:t>, PostgreSQL/</a:t>
            </a:r>
            <a:r>
              <a:rPr dirty="0" err="1"/>
              <a:t>PostGIS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мобильного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трекинга</a:t>
            </a:r>
            <a:r>
              <a:rPr dirty="0"/>
              <a:t> </a:t>
            </a:r>
            <a:r>
              <a:rPr dirty="0" err="1"/>
              <a:t>пробежек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механикой</a:t>
            </a:r>
            <a:r>
              <a:rPr dirty="0"/>
              <a:t> </a:t>
            </a:r>
            <a:r>
              <a:rPr dirty="0" err="1"/>
              <a:t>захвата</a:t>
            </a:r>
            <a:r>
              <a:rPr dirty="0"/>
              <a:t> </a:t>
            </a:r>
            <a:r>
              <a:rPr dirty="0" err="1"/>
              <a:t>территорий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геопространственной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Осуществление</a:t>
            </a:r>
            <a:r>
              <a:rPr dirty="0"/>
              <a:t>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постановки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ВКР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моделирование</a:t>
            </a:r>
            <a:r>
              <a:rPr dirty="0"/>
              <a:t> </a:t>
            </a:r>
            <a:r>
              <a:rPr dirty="0" err="1"/>
              <a:t>предметной</a:t>
            </a:r>
            <a:r>
              <a:rPr dirty="0"/>
              <a:t> </a:t>
            </a:r>
            <a:r>
              <a:rPr dirty="0" err="1"/>
              <a:t>области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605182" y="6296628"/>
            <a:ext cx="34336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rPr sz="2000" dirty="0"/>
              <a:t>2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Изученные технологии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Основной стек разработки распределённой мобильной системы Run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Flutter &amp; Dart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Кроссплатформенный UI-фреймворк от Google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Единая кодовая база для Android и iOS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Собственный движок Impeller (60/120 FPS)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Декларативный UI: виджетная модель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Hot Reload — мгновенная перезагрузка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Dart: AOT + JIT, async/await,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FastAPI &amp;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Высокопроизводительный REST API фреймворк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Автовалидация данных через Pydantic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Автогенерация Swagger / ReDoc документации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Асинхронные обработчики (async def)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Dependency Injection из коробки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ASGI-сервер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PostgreSQL &amp; PostGIS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Объектно-реляционная СУБД, стандарт SQL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ACID-транзакции, MVCC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JSON/JSONB с индексацией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PostGIS — 300+ геопространственных функций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Типы: Point, LineString, MultiPolygon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GiST-индексы для bbox-запросов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3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Ключевые пакеты и библиотеки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Flutter-пакеты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flutter_riverpod — управление состоянием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dio — HTTP-клиент с интерцепторами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flutter_map — карта на базе OpenStreetMap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geolocator — GPS-доступ к геолокации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flutter_secure_storage — Keychain/Keystore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firebase_messaging — FCM 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Python-библиотеки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uvicorn — ASGI-сервер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psycopg 3 — async PostgreSQL-драйвер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PyJWT — JSON Web Token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passlib + Argon2 — хэширование паролей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firebase-admin — отправка push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pydantic — валидация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PostGIS-функции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ST_Snap() — замыкание контуров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ST_Node() — разбиение на пересечениях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ST_Polygonize() — построение полигонов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ST_Intersection / Difference / Union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ST_Area(::geography) — площадь в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ST_AsGeoJSON() — экспорт для клиента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4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Индивидуальное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Три практические задачи, выполненные в рамках индивидуального задания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Firebase &amp; Push-уведомления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Подключены firebase_core и firebase_messaging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Серверная библиотека firebase-admin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API: POST/DELETE /push-tokens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Таблица user_push_tokens в БД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Уведомления при захвате территории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Отображение ленты уведомлений в приложении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Yandex Cloud &amp; облачная БД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Изучена платформа Yandex Cloud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Managed PostgreSQL + PostGIS кластер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Режим запуска: ./run.sh release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Serverless-функция token_cleanup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Очистка просроченных refresh-токенов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БД — основной источник данных в релизе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74519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Смена цвета территории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1459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Endpoint PATCH /me/territory-color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Поле territory_color в таблице users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UI выбора цвета в профиле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Цвет применяется к полигонам на карте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Данные API: territory_color в /territories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Сохранение между сессиями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5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Постановка задачи ВКР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28016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48AA"/>
                </a:solidFill>
                <a:latin typeface="Calibri"/>
              </a:defRPr>
            </a:pPr>
            <a:r>
              <a:t>Цель ВКР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Разработка кроссплатформенного мобильного приложения для мониторинга и стимулирования занятий лёгкой атлетикой с применением геймификации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881360" cy="30175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Задачи разработки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Анализ предметной области и существующих аналогов (7 приложений)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Формулирование функциональных и нефункциональных требований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Разработка архитектуры: мобильный клиент + серверный API + PostGIS БД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Реализация мобильного приложения на Flutter с GPS-трекингом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Реализация серверной части на FastAPI с PostgreSQL/PostGIS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Разработка алгоритма захвата и перераспределения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Проектирование системы достижений пользователей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Функциональное тестирование и развёртывание в облачной среде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6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Сравнительный анализ аналогов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В реестре отечественного ПО аналоги отсутствуют. Run Application — уникальная ниша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000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Приложение</a:t>
                      </a:r>
                      <a:endParaRPr dirty="0"/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GPS-трекинг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Геймификация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Территории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Кроссплатф.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Strava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Сегменты, рейтинги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Nike Run Club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Бейджи, челленджи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Adidas 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Челленджи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Zombies, Run!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Нарративная аудиоигра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Map My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Вызовы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Беговой трекер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 An Empire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Захват гексов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 (сетка)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 Application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Захват территорий,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достижения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 (полигоны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по GPS-треку)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rPr dirty="0"/>
                        <a:t>+ (Flutter)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7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Объект автоматизации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Автоматизируемые процессы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Регистрация и аутентификация (JWT + refresh)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Управление профилем пользователя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Запись и обработка данных пробежки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Расчёт статистики (дистанция, темп, время)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Вычисление полигонов захвата по GPS-треку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Отображение территорий по области карты (bbox)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Формирование и доставка push-уведомлений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Фоновая очистка просроченных refresh-токенов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Пользователи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Гость — регистрация и вход в систему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Авторизованный пользователь — карта, трекинг, история, профиль, уведомления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Администратор — инфраструктура, мониторинг API, БД и фоновых сервисов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Внешние сущности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GPS-модуль устройства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OpenStreetMap Tile Server — тайлы карты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 Cloud Messaging — push-уведомления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Yandex Cloud — облачная БД и serverless-функции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8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Функции, ограничения и критерии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Функции системы (13)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F1–F3: Регистрация, вход, обновление токена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F4: Профиль и смена цвета территории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F5: Завершение пробежки и захват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F6: История пробежек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F7: Территории по области карты (GeoJSON)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F8–F9: Уведомления (последнее + история)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F10–F11: Push-токены (регистрация/удаление)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F12: Очистка refresh-токенов (Cloud Function)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F13: Система достижений (планируется)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Мобильное устройство с GPS-модулем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Подключение к сети Интернет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Платформы: Android и iOS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Обязательная авторизация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Точность зависит от GPS-модуля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Критерии оценки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Корректная фиксация GPS-трека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Корректное построение полигонов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Корректное перераспределение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Время ответа API &lt; 500 мс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Безопасное хранение данных (Argon2)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9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ER-диаграмма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10 сущностей, PostgreSQL + PostGIS, расширения: postgis, pgcrypto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7451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id (UUID), username, display_name, territory_color, is_banned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5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auth_identities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2315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provider, identifier, password_hash (Argon2), verified_at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79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refresh_tokens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7179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token_hash, expires_at, revoked_at, replaced_by_token_hash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3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3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status, distance_m, moving_s, capture_area_m2, track_line (LineString)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7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territories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6907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geom (MultiPolygon 4326), updated_at  —  одна запись на пользователя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1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user_stats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1771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run_count, total_distance_m, total_moving_s, owned_area_m2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5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user_notifications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16635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kind, attacker_user_id, stolen_area_m2, payload (JSONB)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4999"/>
            <a:ext cx="237744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user_push_tokens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714999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platform (android/ios), token, device_id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10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Математические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3 модели, проверенные экспериментально на реальных GPS-данных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М1. Расчёт дистанции (формула гаверсинуса)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d(a,b) = 2R·arcsin(√(sin²(Δφ/2) + cosφₐ·cosφ₂·sin²(Δλ/2))),  D = Σ d(pᵢ, pᵢ₊₁)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R = 6 371 000 м.  Производные: pace = moving_s / (D/1000),  v = D / moving_s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М2. Полигонизация трека (7 шагов)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WGS84→3857 → ST_Snap(L,L,δ) → ST_Node → ST_Polygonize → MakeValid → фильтр S≥150 м² → →4326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δ = 10 м — допуск замыкания GPS.  Поддержка самопересечений (например, «восьмёрка»)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М3. Перераспределение территорий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T'(v) = Difference(T(v), C);   T'(u) = Union(T(u), C);   ΔS(v) = Area(T(v)) − Area(T'(v))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Атомарная SQL-транзакция (finalize_run_capture).  Уведомления жертвам.  Обновление user_stats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11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Экспериментальная проверка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Проверка адекватности на реальных GPS-данных (район г. Липецка)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411480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Эксп. 1: Дистанция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599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Трек из 3 GPS-точек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p₁→p₂: 175 м,  p₂→p₃: 196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Dₜₑₒр = 371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PostGIS ST_Length: ≈ 370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Δ &lt; 0.5 %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Модель адекватна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4519"/>
            <a:ext cx="3429000" cy="411480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Эксп. 2: Полигон захвата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599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Замкнутый прямоугольный трек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W ≈ 271 м,  H ≈ 334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Sₜₑₒр ≈ 90 514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PostGIS: 90 454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Δ &lt; 0.1 %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Незамкнутый трек → EMPTY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74519"/>
            <a:ext cx="3429000" cy="411480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057399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Эксп. 3: Перераспределение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14599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Пользователь A: 49 748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Пользователь B: захват 90 454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Пересечение: 11 307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T'(A) = 38 442 м² ≈ расчёт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Жертв: 1, уведомление создано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Модель адекватна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12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Изучение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391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633"/>
                </a:solidFill>
                <a:latin typeface="Calibri"/>
              </a:defRPr>
            </a:pPr>
            <a:r>
              <a:t>Flutter &amp; Dart, FastAPI &amp; Python, PostgreSQL/PostGIS — основной стек для распределённых мобильных систем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03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Постановка задачи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077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633"/>
                </a:solidFill>
                <a:latin typeface="Calibri"/>
              </a:defRPr>
            </a:pPr>
            <a:r>
              <a:t>Сформулированы цели, задачи, проведён анализ 7 аналогов, определены объекты автоматизации, функции и критерии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Моделирование предметной области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76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633"/>
                </a:solidFill>
                <a:latin typeface="Calibri"/>
              </a:defRPr>
            </a:pPr>
            <a:r>
              <a:t>ER-диаграмма (10 сущностей), 3 математические модели, экспериментальная проверка адекватности на реальных данных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43400"/>
            <a:ext cx="320040" cy="3200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97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Индивидуальное задание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451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633"/>
                </a:solidFill>
                <a:latin typeface="Calibri"/>
              </a:defRPr>
            </a:pPr>
            <a:r>
              <a:t>Push-уведомления (Firebase), облачная БД (Yandex Cloud), пользовательская настройка цвета территории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12080"/>
            <a:ext cx="320040" cy="3200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6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Сравнительный анализ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138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633"/>
                </a:solidFill>
                <a:latin typeface="Calibri"/>
              </a:defRPr>
            </a:pPr>
            <a:r>
              <a:t>Подтверждено отсутствие аналогов в реестре отечественного ПО; Run Application — уникальная механика полигонов по GPS-треку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89320"/>
            <a:ext cx="10881360" cy="365760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848AA"/>
                </a:solidFill>
                <a:latin typeface="Calibri"/>
              </a:defRPr>
            </a:pPr>
            <a:r>
              <a:t>Поставленные цели практики достигнуты. Результаты являются основой для защиты ВКР.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13  |  Проектно-технологическая практика — Run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1726</Words>
  <Application>Microsoft Macintosh PowerPoint</Application>
  <PresentationFormat>Широкоэкранный</PresentationFormat>
  <Paragraphs>270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Никитин Матвей</cp:lastModifiedBy>
  <cp:revision>2</cp:revision>
  <dcterms:created xsi:type="dcterms:W3CDTF">2013-01-27T09:14:16Z</dcterms:created>
  <dcterms:modified xsi:type="dcterms:W3CDTF">2026-03-29T23:02:44Z</dcterms:modified>
  <cp:category/>
</cp:coreProperties>
</file>
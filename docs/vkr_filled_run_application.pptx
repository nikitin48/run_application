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5"/>
  </p:normalViewPr>
  <p:slideViewPr>
    <p:cSldViewPr snapToGrid="0" snapToObjects="1">
      <p:cViewPr varScale="1">
        <p:scale>
          <a:sx n="110" d="100"/>
          <a:sy n="110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C68E6"/>
                </a:solidFill>
                <a:latin typeface="Calibri"/>
              </a:defRPr>
            </a:pPr>
            <a:r>
              <a:t>ЛИПЕЦКИЙ ГОСУДАРСТВЕННЫЙ ТЕХНИЧЕСКИЙ УНИВЕРСИТЕТ</a:t>
            </a:r>
          </a:p>
          <a:p>
            <a:pPr>
              <a:spcBef>
                <a:spcPts val="200"/>
              </a:spcBef>
              <a:defRPr sz="1200">
                <a:solidFill>
                  <a:srgbClr val="5F6A7A"/>
                </a:solidFill>
                <a:latin typeface="Calibri"/>
              </a:defRPr>
            </a:pPr>
            <a:r>
              <a:t>Институт компьютерных наук  •  Кафедра автоматизированных систем управления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F6A7A"/>
                </a:solidFill>
                <a:latin typeface="Calibri"/>
              </a:defRPr>
            </a:pPr>
            <a:r>
              <a:t>ВЫПУСКНАЯ КВАЛИФИКАЦИОННАЯ РАБОТА</a:t>
            </a:r>
          </a:p>
          <a:p>
            <a:pPr>
              <a:defRPr sz="2800" b="1">
                <a:solidFill>
                  <a:srgbClr val="202633"/>
                </a:solidFill>
                <a:latin typeface="Calibri"/>
              </a:defRPr>
            </a:pPr>
            <a:r>
              <a:t>Разработка кроссплатформенного мобильного приложения для мониторинга и стимулирования занятий лёгкой атлетикой с применением геймификации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291840"/>
            <a:ext cx="3657600" cy="36576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C68E6"/>
                </a:solidFill>
                <a:latin typeface="Calibri"/>
              </a:rPr>
              <a:t>Студент:  </a:t>
            </a:r>
            <a:r>
              <a:rPr sz="1700">
                <a:solidFill>
                  <a:srgbClr val="5F6A7A"/>
                </a:solidFill>
                <a:latin typeface="Calibri"/>
              </a:rPr>
              <a:t>Никитин Матвей Сергеевич, группа ПИ-22-1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C68E6"/>
                </a:solidFill>
                <a:latin typeface="Calibri"/>
              </a:rPr>
              <a:t>Направление:  </a:t>
            </a:r>
            <a:r>
              <a:rPr sz="1700">
                <a:solidFill>
                  <a:srgbClr val="5F6A7A"/>
                </a:solidFill>
                <a:latin typeface="Calibri"/>
              </a:rPr>
              <a:t>09.03.04 «Программная инженерия»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C68E6"/>
                </a:solidFill>
                <a:latin typeface="Calibri"/>
              </a:rPr>
              <a:t>Руководитель от кафедры:  </a:t>
            </a:r>
            <a:r>
              <a:rPr sz="1700">
                <a:solidFill>
                  <a:srgbClr val="5F6A7A"/>
                </a:solidFill>
                <a:latin typeface="Calibri"/>
              </a:rPr>
              <a:t>Болдырихин О.В., старший преподаватель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C68E6"/>
                </a:solidFill>
                <a:latin typeface="Calibri"/>
              </a:rPr>
              <a:t>Руководитель от предприятия:  </a:t>
            </a:r>
            <a:r>
              <a:rPr sz="1700">
                <a:solidFill>
                  <a:srgbClr val="5F6A7A"/>
                </a:solidFill>
                <a:latin typeface="Calibri"/>
              </a:rPr>
              <a:t>Овчинников В.В., генеральный директор ООО «Фьюжнсофт»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F6A7A"/>
                </a:solidFill>
                <a:latin typeface="Calibri"/>
              </a:rPr>
              <a:t>Липецк,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1. Характеристика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633"/>
                </a:solidFill>
                <a:latin typeface="Calibri"/>
              </a:defRPr>
            </a:pPr>
            <a:r>
              <a:t>•  Предметная область — цифровые сервисы для любителей бега и лёгкой атлетики</a:t>
            </a:r>
          </a:p>
          <a:p>
            <a:pPr>
              <a:spcAft>
                <a:spcPts val="1200"/>
              </a:spcAft>
              <a:defRPr sz="2000">
                <a:solidFill>
                  <a:srgbClr val="202633"/>
                </a:solidFill>
                <a:latin typeface="Calibri"/>
              </a:defRPr>
            </a:pPr>
            <a:r>
              <a:t>•  Проблема: более 60 % пользователей беговых трекеров прекращают регулярные тренировки в течение 3 месяцев из-за потери мотивации</a:t>
            </a:r>
          </a:p>
          <a:p>
            <a:pPr>
              <a:spcAft>
                <a:spcPts val="1200"/>
              </a:spcAft>
              <a:defRPr sz="2000">
                <a:solidFill>
                  <a:srgbClr val="202633"/>
                </a:solidFill>
                <a:latin typeface="Calibri"/>
              </a:defRPr>
            </a:pPr>
            <a:r>
              <a:t>•  Классические приложения фиксируют дистанцию и темп, но не предлагают вовлекающей игровой механики, связанной с реальным пространством</a:t>
            </a:r>
          </a:p>
          <a:p>
            <a:pPr>
              <a:spcAft>
                <a:spcPts val="1200"/>
              </a:spcAft>
              <a:defRPr sz="2000">
                <a:solidFill>
                  <a:srgbClr val="202633"/>
                </a:solidFill>
                <a:latin typeface="Calibri"/>
              </a:defRPr>
            </a:pPr>
            <a:r>
              <a:t>•  Идея: объединить GPS-трекинг с геогеймификацией захвата территорий, превращая каждую пробежку в соревнование на реальной карте</a:t>
            </a:r>
          </a:p>
          <a:p>
            <a:pPr>
              <a:spcAft>
                <a:spcPts val="1200"/>
              </a:spcAft>
              <a:defRPr sz="2000">
                <a:solidFill>
                  <a:srgbClr val="202633"/>
                </a:solidFill>
                <a:latin typeface="Calibri"/>
              </a:defRPr>
            </a:pPr>
            <a:r>
              <a:t>•  Целевая аудитория: бегуны-любители 18–40 лет, использующие смартфон на тренировках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2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2. Цели и задачи разработки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28016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48AA"/>
                </a:solidFill>
                <a:latin typeface="Calibri"/>
              </a:defRPr>
            </a:pPr>
            <a:r>
              <a:t>Цель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Создание сервиса для учёта пробежек и повышения мотивации пользователей к спортивным активностям через геймификацию (захват территорий) и мониторинг с хранением статистики и уведомлениями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881360" cy="29260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Провести анализ предметной области и существующих аналогов (7 приложений)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Спроектировать клиент-серверную архитектуру: Flutter + FastAPI + PostgreSQL/PostGIS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Реализовать модуль GPS-трекинга пробежек с фильтрацией точек и учётом пауз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Разработать алгоритм полигонизации трека и перераспределения территорий между пользователями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Интегрировать Firebase Cloud Messaging для push-уведомлений о захвате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Развернуть БД в Yandex Cloud и реализовать serverless-компонент для очистки токенов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Провести экспериментальную проверку математических моделей на реальных GPS-треках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3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3. Существующие решения и аналоги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Сравнительный анализ 7 беговых приложений. В реестре отечественного ПО аналоги не найдены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000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Приложение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GPS-трекинг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Геймификация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Территории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Кроссплатформа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Strava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Сегменты, клубы,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рейтинги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Nike Run Club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Достижения, бейджи,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челленджи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Adidas 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Челленджи,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рейтинги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Zombies, Run!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Нарративная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аудиоигра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Map My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Вызовы,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сообщество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Беговой трекер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(Leap Fitness)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 An Empire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Захват гексов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 (сетка)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 Application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(данная работа)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Захват территорий,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очки, достижения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 (полигоны</a:t>
                      </a:r>
                    </a:p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по GPS-треку)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+ (Flutter)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4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4. Объект автоматизации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Автоматизируемые процессы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Регистрация и аутентификация пользователей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Управление профилем пользователя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Запись, хранение и обработка данных пробежки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Расчёт статистики пробежки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Вычисление полигонов захвата на основе GPS-трека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Отображение территорий по области карты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Формирование уведомлений и доставка push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Периодическая очистка просроченных refresh-токенов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Информационные объекты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Данные пользователей (профиль, territory_color)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Данные аутентификации (хэши паролей, refresh-токены)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Данные пробежек (треки, точки, паузы)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Данные территорий (MultiPolygon 4326)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Агрегированная статистика (run_count, distance, area)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Уведомления (факты захвата территории)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Push-токены устройств (FCM)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Достижения пользователя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Границы системы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Мобильный клиент: UI, GPS-поток, локальное хранение токенов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Серверная часть: REST API, бизнес-логика, PostGIS-вычисления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Облачная БД: Yandex Managed PostgreSQL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Внешние сервисы вне контура: FCM, OpenStreetMap tiles, Yandex Cloud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5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5. Пользователи и внешние сущности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Роли пользователей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Гость — незарегистрированный пользователь, доступ к регистрации и входу в систему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Авторизованный пользователь — просмотр карты территорий, запуск и завершение пробежек, просмотр истории, редактирование профиля, получение уведомлений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Администратор — поддержка инфраструктуры, мониторинг API, БД и фоновых сервисов, блокировка пользователей (is_banned)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Внешние сущности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Служба геолокации устройства — GPS-поток координат (lat, lng, accuracy, speed, altitude)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Картографический сервис — тайловые серверы OpenStreetMap / Carto / Esri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 Cloud Messaging (FCM) — доставка push-уведомлений на мобильные устройства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Yandex Cloud — Managed PostgreSQL (облачная БД) и Cloud Functions (serverless-очистка токенов)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6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6. Функции, ограничения и критерии оценки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Функции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Регистрация / авторизация (JWT + refresh-ротация)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Создание и редактирование профиля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GPS-трекинг с паузами (manual, gps_lost, inet_lost)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Завершение пробежки и расчёт метрик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Визуализация территорий на карте (GeoJSON по bbox)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Механизм захвата и перераспределения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Система очков и достижений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Таблица лидеров (площадь, дистанция)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Уведомления (in-app + FCM push)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История пробежек с пагинацией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Необходим GPS-модуль и подключение к сети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Платформы: Android 6+ / iOS 14+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Авторизация обязательна для трекинга и карты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Минимальная площадь захвата — 150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Допуск GPS-погрешности δ = 10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Корректность зависит от точности GPS-модуля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Критерии качества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Реализация основных функций: трекинг, карта, территории, уведомления, профиль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Точность дистанции: отклонение &lt; 5 % от эталона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Время отклика API — менее 500 мс (p95)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Корректность геообработки: совпадение с PostGIS-эталоном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Безопасное хранение паролей (Argon2) и корректная работа токенов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Консистентность: отсутствие потерь данных при конкурентных запусках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rPr dirty="0"/>
              <a:t>7  |  ВКР — </a:t>
            </a:r>
            <a:r>
              <a:rPr dirty="0" err="1"/>
              <a:t>Кроссплатформенное</a:t>
            </a:r>
            <a:r>
              <a:rPr dirty="0"/>
              <a:t> </a:t>
            </a: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</a:t>
            </a:r>
            <a:r>
              <a:rPr dirty="0" err="1"/>
              <a:t>занятий</a:t>
            </a:r>
            <a:r>
              <a:rPr dirty="0"/>
              <a:t> </a:t>
            </a:r>
            <a:r>
              <a:rPr dirty="0" err="1"/>
              <a:t>лёгкой</a:t>
            </a:r>
            <a:r>
              <a:rPr dirty="0"/>
              <a:t> </a:t>
            </a:r>
            <a:r>
              <a:rPr dirty="0" err="1"/>
              <a:t>атлетикой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7. Основные понятия и процессы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10 сущностей предметной области и ключевой процесс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74519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Профиль: id (UUID), username, display_name, territory_color, is_banned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04871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04871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Учётная запись: provider (email), identifier, password_hash (Argon2)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35223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35223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Пробежка: started_at, ended_at, distance_m, moving_s, capture_area_m2, track_line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5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65575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GPS-точка: seq, lat, lng, ts, accuracy_m, speed_mps, altitude_m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95927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Territory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95927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Геополигон: geom (MultiPolygon 4326) — одна запись на пользователя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26279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26279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Агрегаты: run_count, total_distance_m, total_moving_s, owned_area_m2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56631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056631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Событие: kind = territory_stolen, attacker_user_id, stolen_area_m2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86983"/>
            <a:ext cx="1828800" cy="411480"/>
          </a:xfrm>
          <a:prstGeom prst="round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PushToken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586983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FCM-токен устройства: platform (android/ios), token, device_id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89320"/>
            <a:ext cx="10881360" cy="365760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GPS-поток  →  фильтрация  →  POST /runs/finish  →  LineString  →  полигонизация  →  перераспределение  →  уведомления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8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8. ER-диаграмма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PostgreSQL + PostGIS  |  10 таблиц  |  расширения: postgis, pgcrypto  |  GIST-индекс по geom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160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Сущность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Ключевые атрибуты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Связи</a:t>
                      </a:r>
                    </a:p>
                  </a:txBody>
                  <a:tcPr>
                    <a:solidFill>
                      <a:srgbClr val="3C6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username, display_name, territory_color, is_banned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1:M runs, 1:1 territories, 1:1 user_stats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auth_identities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provider, identifier, password_hash, verified_at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users (user_id)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refresh_tokens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token_hash, expires_at, revoked_at, ip, user_agent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users (user_id)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status, distance_m, moving_s, capture_area_m2, track_line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users, 1:M run_points, 1:M run_pauses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run_points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(run_id, seq)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lat, lng, ts, accuracy_m, speed_mps, altitude_m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run_pauses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started_at, ended_at, reason (manual|gps_lost|inet_lost)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runs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territories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geom (MultiPolygon 4326), updated_at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1:1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user_stats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run_count, total_distance_m, total_moving_s, owned_area_m2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1:1 users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user_notifications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kind, attacker_user_id, stolen_area_m2,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users, M:1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user_push_tokens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id (uuid)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platform (android|ios), token, device_id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633"/>
                          </a:solidFill>
                          <a:latin typeface="Calibri"/>
                        </a:defRPr>
                      </a:pPr>
                      <a:r>
                        <a:t>M:1 users</a:t>
                      </a:r>
                    </a:p>
                  </a:txBody>
                  <a:tcPr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9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9. Математические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3 модели, проверенные экспериментально на реальных GPS-треках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M1. Расчёт дистанции (формула гаверсинуса)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d(a,b) = 2R·arcsin(√(sin²(Δφ/2) + cosφₐ·cosφ₂·sin²(Δλ/2))),  D = Σ d(pᵢ, pᵢ₊₁)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R = 6 371 000 м.  Производные: moving_s = elapsed_s − paused_s;  pace = moving_s / (D/1000) с/км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M2. Полигонизация трека (7 шагов захвата территории)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WGS84→3857 → ST_Snap(L,L,δ) → ST_Node → ST_Polygonize → ST_MakeValid → фильтр S≥150 м² → →4326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δ=10 м — допуск замыкания GPS.  Поддержка «восьмёрок» (несколько полигонов).  Sₑₘₙ=150 м²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18872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68E6"/>
                </a:solidFill>
                <a:latin typeface="Calibri"/>
              </a:defRPr>
            </a:pPr>
            <a:r>
              <a:t>M3. Перераспределение владения территориями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633"/>
                </a:solidFill>
                <a:latin typeface="Consolas"/>
              </a:defRPr>
            </a:pPr>
            <a:r>
              <a:t>T'(v) = Difference(T(v), C);   T'(u) = Union(T(u), C);   ΔS(v) = Area(T(v)) − Area(T'(v))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A"/>
                </a:solidFill>
                <a:latin typeface="Calibri"/>
              </a:defRPr>
            </a:pPr>
            <a:r>
              <a:t>Атомарная транзакция: FOR UPDATE. Уведомления жертвам. Обновление user_stats для всех затронутых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10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10. Источники информации и входные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Источники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GPS-модуль смартфона — координаты, скорость, точность, высота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Пользователь — нажатие кнопок старт / пауза / финиш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Системные часы — временные метки для каждой точки и паузы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Платформенные API — geolocator (Flutter), foreground service (Android)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Входные данные (POST /runs/finish)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started_at, ended_at — временные рамки тренировки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points[] — массив { lat, lng, ts, accuracy_m, speed_mps, altitude_m }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pauses[] — массив { started_at, ended_at, reason }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Клиентская фильтрация: accuracy &lt; 65 м, интервал ≥ 800 мс, перемещение ≥ 1.5 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Серверная валидация: ≥ 2 точек, построение LineString, нормализация координат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11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11. Выходная информация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Результаты пробежки (API-ответ)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run_id — идентификатор записи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distance_m — дистанция пробежки (м)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elapsed_s / paused_s / moving_s — время (сек)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capture_area_m2 — площадь захваченной территории (м²)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victims_count — число пострадавших пользователей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status — draft → finished → processed / 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Формы представления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Экран итогов — дистанция, темп, время, захваченная площадь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Карта территорий — GeoJSON-полигоны по bbox, цвет владельца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Лента уведомлений — «У вас отняли N м² территории»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Профиль и статистика — run_count, total_distance_m, owned_area_m2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Push-уведомления через FCM — мгновенное оповещение жертв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12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12. Структура аппаратных средств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Мобильное устройство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691640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6916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Android 6+ / iOS 14+, GPS-модуль, мобильный интернет (4G/Wi-Fi)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VPS-сервер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359152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Linux (Ubuntu), Docker Compose: FastAPI-контейнер + PostgreSQL/PostGIS-контейнер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Обратный прокси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26664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2666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Nginx — TLS-терминация (Let's Encrypt HTTPS), маршрутизация к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Облачная БД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694176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69417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Yandex Managed PostgreSQL + PostGIS — релизный контур с репликацией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61688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FCM-сервер 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361688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3616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Доставка push-уведомлений на устройства через firebase-admin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Тайл-серверы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029200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5029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Растровые карточные тайлы OpenStreetMap / Carto / Esri (flutter_map)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96712"/>
            <a:ext cx="2926080" cy="47548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48AA"/>
                </a:solidFill>
                <a:latin typeface="Calibri"/>
              </a:defRPr>
            </a:pPr>
            <a:r>
              <a:t>Yandex Cloud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696712"/>
            <a:ext cx="365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68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69671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633"/>
                </a:solidFill>
                <a:latin typeface="Calibri"/>
              </a:defRPr>
            </a:pPr>
            <a:r>
              <a:t>Serverless cron: очистка просроченных refresh-токенов в БД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13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13. Структура программных средств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Мобильный клиент (Flutter)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 3.x + Dart — кроссплатформенная сборка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Riverpod — управление состоянием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go_router — навигация (StatefulShellRoute)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Dio — HTTP-клиент + interceptors (JWT refresh)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flutter_map + latlong2 — интерактивная карта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geolocator — GPS-поток с foreground service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flutter_local_notifications — локальные уведомления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firebase_core + firebase_messaging — FCM 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Серверная часть 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FastAPI + Uvicorn — асинхронный ASGI-сервер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Pydantic v2 — валидация входных данных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psycopg 3 — async-драйвер PostgreSQL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PyJWT — генерация/верификация access-токенов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passlib + Argon2 — хеширование паролей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firebase-admin — отправка push-уведомлений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Docker Compose — контейнеризация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Nginx + Let's Encrypt — 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429000" cy="4297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База данных (PostgreSQL)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PostgreSQL 15 + PostGIS 3.x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Расширение pgcrypto — gen_random_uuid()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GIST-индекс по territories.geom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compute_capture_polygons() — полигонизация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finalize_run_capture() — перераспределение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Атомарные транзакции: FOR UPDATE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Yandex Managed PostgreSQL — релизный контур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Cloud Functions — cron-очистка токенов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14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33"/>
                </a:solidFill>
                <a:latin typeface="Calibri"/>
              </a:defRPr>
            </a:pPr>
            <a:r>
              <a:t>14. Результаты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194560" cy="41148"/>
          </a:xfrm>
          <a:prstGeom prst="rect">
            <a:avLst/>
          </a:prstGeom>
          <a:solidFill>
            <a:srgbClr val="3C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A"/>
                </a:solidFill>
                <a:latin typeface="Calibri"/>
              </a:defRPr>
            </a:pPr>
            <a:r>
              <a:t>Реализованный функционал и экспериментальная проверка моделей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2011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Реализованный функционал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599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Регистрация и авторизация (JWT + refresh, Argon2)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GPS-трекинг пробежек с паузами и фильтрацией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Полигонизация трека и захват территорий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Карта с территориями и пользовательскими цветами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Уведомления о захвате (in-app + FCM push)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Профиль, статистика, история и смена цвета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349240" cy="2011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05739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Экспериментальная проверка (3 эксперимента)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599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Эксп. 1 — Дистанция: D=371 м, PostGIS=348 м, Δ&lt;0.5 %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Эксп. 2 — Полигон: Sₓₑₒр=90 514 м², PostGIS=90 454 м², Δ&lt;0.1 %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Эксп. 3 — Перераспределение: жертв=1, T'(A)=38 442 м² ≈ расчётн. 38 442 м²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Все модели адекватны в рамках допустимых погрешностей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349240" cy="2011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Демо-сценарий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1. Регистрация нового пользователя по email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2. Запуск пробежки, отслеживание GPS-трека на карте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3. Финиш — расчёт метрик и захват территории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4. Просмотр карты с обновлённым полигоном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5. Push-уведомление жертве о потере территории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6. Профиль со статистикой и история тренировок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349240" cy="2011680"/>
          </a:xfrm>
          <a:prstGeom prst="roundRect">
            <a:avLst/>
          </a:prstGeom>
          <a:solidFill>
            <a:srgbClr val="ECF0F7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68E6"/>
                </a:solidFill>
                <a:latin typeface="Calibri"/>
              </a:defRPr>
            </a:pPr>
            <a:r>
              <a:t>Перспективы развития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Система достижений и уровней (бейджи, XP, ачивки)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Расширенная аналитика: графики темпа, высоты, зон ЧСС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Социальные механики: друзья, лидерборд, командные захваты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Таблица лидеров по площади территорий и дистанции</a:t>
            </a:r>
          </a:p>
          <a:p>
            <a:pPr>
              <a:spcAft>
                <a:spcPts val="1000"/>
              </a:spcAft>
              <a:defRPr sz="1600">
                <a:solidFill>
                  <a:srgbClr val="202633"/>
                </a:solidFill>
                <a:latin typeface="Calibri"/>
              </a:defRPr>
            </a:pPr>
            <a:r>
              <a:t>• Поддержка Apple Watch / Wear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A7A"/>
                </a:solidFill>
                <a:latin typeface="Calibri"/>
              </a:defRPr>
            </a:pPr>
            <a:r>
              <a:t>15  |  ВКР — Кроссплатформенное мобильное приложение для мониторинга занятий лёгкой атлетикой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2602</Words>
  <Application>Microsoft Macintosh PowerPoint</Application>
  <PresentationFormat>Широкоэкранный</PresentationFormat>
  <Paragraphs>335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Никитин Матвей</cp:lastModifiedBy>
  <cp:revision>1</cp:revision>
  <dcterms:created xsi:type="dcterms:W3CDTF">2013-01-27T09:14:16Z</dcterms:created>
  <dcterms:modified xsi:type="dcterms:W3CDTF">2026-03-29T18:40:19Z</dcterms:modified>
  <cp:category/>
</cp:coreProperties>
</file>
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02633"/>
                </a:solidFill>
                <a:latin typeface="Calibri"/>
              </a:defRPr>
            </a:pPr>
            <a:r>
              <a:t>Выпускная квалификационная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241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Тема: Разработка кроссплатформенного мобильного приложения для мониторинга и стимулирования занятий лёгкой атлетикой с применением геймификации</a:t>
            </a:r>
          </a:p>
          <a:p>
            <a:pPr>
              <a:spcAft>
                <a:spcPts val="800"/>
              </a:spcAft>
              <a:defRPr sz="2000">
                <a:solidFill>
                  <a:srgbClr val="5F6A7A"/>
                </a:solidFill>
                <a:latin typeface="Calibri"/>
              </a:defRPr>
            </a:pPr>
            <a:r>
              <a:t>Студент: [ФИО]</a:t>
            </a:r>
          </a:p>
          <a:p>
            <a:pPr>
              <a:spcAft>
                <a:spcPts val="800"/>
              </a:spcAft>
              <a:defRPr sz="2000">
                <a:solidFill>
                  <a:srgbClr val="5F6A7A"/>
                </a:solidFill>
                <a:latin typeface="Calibri"/>
              </a:defRPr>
            </a:pPr>
            <a:r>
              <a:t>Руководитель: [ФИО, должность]</a:t>
            </a:r>
          </a:p>
          <a:p>
            <a:pPr>
              <a:spcAft>
                <a:spcPts val="800"/>
              </a:spcAft>
              <a:defRPr sz="2000">
                <a:solidFill>
                  <a:srgbClr val="5F6A7A"/>
                </a:solidFill>
                <a:latin typeface="Calibri"/>
              </a:defRPr>
            </a:pPr>
            <a:r>
              <a:t>Год: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Характеристика объекта автоматизации /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Область: цифровые сервисы для бегунов и любителей лёгкой атлетики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Проблема: стандартные трекеры со временем теряют мотивационный эффект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Идея: объединить GPS-трекинг, аналитику и геогеймификацию захвата территорий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Цели и задачи разработки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Цель: повысить регулярность тренировок через механику захвата территорий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Задачи: мобильный клиент Flutter + backend FastAPI + БД PostgreSQL/PostGIS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Задачи: расчёт метрик пробежки, полигонизация трека, перераспределение владения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Задачи: уведомления, история активности, профили и безопасная аутентификация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Постановка задачи, аналоги и существующие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Вход: GPS-точки, паузы, профиль пользователя; Выход: статистика и новые территории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Аналоги: Strava, Nike Run Club, Adidas Running, Map My Run, Zombies, Run!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Ближайший аналог: Run an Empire (территории по сетке)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Отличие Run Application: произвольные полигоны по реальному треку + открытая серверная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Объект управления / автоматизации / информационный объект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Объекты управления: пробежки, территории, сессии, push-токены устройств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Информационные объекты: users, runs, run_points, territories, user_stats, notifications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Границы: мобильный клиент и серверная обработка; внешние карты/FCM вне контура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Пользователи и внешние сущности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Роли: гость, авторизованный пользователь, администратор/оператор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Сценарии: регистрация, запуск/завершение пробежки, просмотр карты, работа с профилем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Внешние сущности: GPS-модуль, OpenStreetMap tiles, Firebase Cloud Messaging, Yandex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Функции системы, ограничения и критерии оценки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Функции: auth, профиль, finish_run, territories bbox, уведомления, push-токены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Ограничения: GPS + интернет, только Android/iOS, обязательная авторизация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Критерии: корректность трекинга/геообработки, API &lt;= 500 мс, стабильность и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Основные понятия и процессы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Понятия: User, Run, RunPoint, Territory, UserStats, Notification, PushToken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Процесс: трек пробежки -&gt; полигонизация -&gt; пересечение с чужими территориями -&gt; перераспределение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Закономерность: захват происходит только при образовании замкнутых контуров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ER-диаграмма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8308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68E6"/>
                </a:solidFill>
                <a:latin typeface="Calibri"/>
              </a:defRPr>
            </a:pPr>
            <a:r>
              <a:t>Ключевые сущности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68E6"/>
                </a:solidFill>
                <a:latin typeface="Calibri"/>
              </a:defRPr>
            </a:pPr>
            <a:r>
              <a:t>Ключевые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users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runs, run_points, run_pauses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territories, user_stats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auth_identities, refresh_tokens, user_notifications, user_push_tokens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users -&gt; runs: 1:M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users -&gt; territories: 1:1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runs -&gt; run_points: 1:M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users -&gt; notifications/push_tokens: 1:M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Математические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8308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68E6"/>
                </a:solidFill>
                <a:latin typeface="Calibri"/>
              </a:defRPr>
            </a:pPr>
            <a:r>
              <a:t>Модель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68E6"/>
                </a:solidFill>
                <a:latin typeface="Calibri"/>
              </a:defRPr>
            </a:pPr>
            <a:r>
              <a:t>Практическая реализация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M1: дистанция D = Σ d(pi, pi+1), d - формула гаверсинуса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M2: захват C = Polygonize(Node(Snap(L, L, delta)))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M3: T_v' = Difference(T_v, C), T_u' = Union(T_u, C)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Метрики: capture_area_m2, victims_count, owned_area_m2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PostGIS: ST_Snap, ST_Node, ST_Polygonize, ST_Difference, ST_Union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Фильтрация мелких артефактов: S_min &gt;= 150 м2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GPS-погрешность учитывается через допуск delta (обычно 10 м)</a:t>
            </a:r>
          </a:p>
          <a:p>
            <a:pPr>
              <a:spcAft>
                <a:spcPts val="1200"/>
              </a:spcAft>
              <a:defRPr sz="1800">
                <a:solidFill>
                  <a:srgbClr val="202633"/>
                </a:solidFill>
                <a:latin typeface="Calibri"/>
              </a:defRPr>
            </a:pPr>
            <a:r>
              <a:t>Модели проверены экспериментами на реальных треках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Источники информации и входные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Источник трека: GPS-точки смартфона (lat, lng, ts, accuracy_m, speed_mps)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Вход API /runs/finish: started_at, ended_at, points[], pauses[]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Предобработка: валидация, построение LineString, нормализация и фильтрация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Выходная информация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Результаты: distance_m, moving_s, pace, capture_area_m2, victims_count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Формы выдачи: API-ответы, карта территорий (GeoJSON), лента уведомлений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Качество: консистентность БД, корректность площадей и стабильная доставка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Структура аппаратных средств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Клиент: Android/iOS устройство с GPS и мобильным интернетом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Сервер: backend FastAPI + PostgreSQL/PostGIS в облачной инфраструктуре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Внешние узлы: FCM для push и tile-серверы OpenStreetMap для карты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Структура программных средств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Мобильный клиент: Flutter, Riverpod, Dio, flutter_map, geolocator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Backend: FastAPI, Pydantic, psycopg, JWT, Argon2; БД: PostgreSQL + PostGIS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Поток: app -&gt; API -&gt; SQL/PostGIS функции -&gt; обновление статистики/уведомлений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633"/>
                </a:solidFill>
                <a:latin typeface="Calibri"/>
              </a:defRPr>
            </a:pPr>
            <a:r>
              <a:t>Результаты работы и демонстрация программы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194560" cy="4572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Реализовано: трекинг пробежек, карта территорий, перераспределение и уведомления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Демо-сценарий: регистрация -&gt; пробежка -&gt; завершение -&gt; захват -&gt; просмотр истории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Подтверждено: корректный расчёт дистанции и площади, работа push и профиля</a:t>
            </a:r>
          </a:p>
          <a:p>
            <a:pPr>
              <a:spcAft>
                <a:spcPts val="1600"/>
              </a:spcAft>
              <a:defRPr sz="2400">
                <a:solidFill>
                  <a:srgbClr val="202633"/>
                </a:solidFill>
                <a:latin typeface="Calibri"/>
              </a:defRPr>
            </a:pPr>
            <a:r>
              <a:t>Развитие: система достижений, расширенная аналитика, социальные механики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A7A"/>
                </a:solidFill>
                <a:latin typeface="Calibri"/>
              </a:defRPr>
            </a:pPr>
            <a:r>
              <a:t>ВКР | Минималистичный шаблон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